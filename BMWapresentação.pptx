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56" r:id="rId6"/>
    <p:sldId id="262" r:id="rId7"/>
    <p:sldId id="261" r:id="rId8"/>
    <p:sldId id="260" r:id="rId9"/>
    <p:sldId id="259" r:id="rId10"/>
    <p:sldId id="257" r:id="rId11"/>
    <p:sldId id="258" r:id="rId12"/>
    <p:sldId id="263" r:id="rId13"/>
    <p:sldId id="265" r:id="rId14"/>
    <p:sldId id="266" r:id="rId15"/>
    <p:sldId id="264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CFC35-2394-4A9B-8A04-43941CA2A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8913AC-A9E6-4194-A9A7-11D22F0FF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409AD7-2297-46C9-B566-CECE1658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AA7D58-1A2B-4AE3-8608-5F5D9796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398425-74B1-4C68-B21C-B5BAA538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6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1F159-68E2-4F13-97CB-12344C6E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C6A470-2BA2-4464-A114-27BABA22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F23100-730C-4DB7-8471-C9A4762C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8DF742-E97A-4A0E-9D26-D95C53A0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6F8BCD-7AB7-463E-89E9-E6411316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84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41CB8-6CFF-4116-80D4-F7F542F2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428C93-4BC7-4B1B-A4EF-DC0805667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7415DA-4FA5-4E06-9DDB-8CF4838AB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AC24C5-462F-401C-928D-209DB540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B2D4EA-CDE5-49DB-9A19-7C908D14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20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13D37-695B-417A-8016-4D1061BF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D43358-B007-40EA-9FF3-F7F9C44F9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C5BC3C-91B3-48E2-A1C0-4A018097D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0F1ED6-0E88-4FBE-B4F7-721F563E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22158E-FEB7-49F5-8252-12E66E19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EC9618-A01E-42C1-B152-DCB05816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70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FD1BD-1FA0-4D35-9D06-B75AE1F67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395BF8-5117-44CC-A59D-78DBDBAE4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7D579C-75DD-4D2D-B8E1-94C38B83B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D5834B-D43C-43EE-99C5-BC2A479D3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25821B-A00E-4D89-BA0A-07C11598A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4A6310-5268-4E83-AB91-FEB9CC42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A77434-C0A1-418C-8AEB-E8660EC3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250808-00B8-42B6-9DA5-F9104216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87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A3517-7273-400F-9735-F45C18D6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D173A0-BAA5-4AE9-BAEE-00D7D5AE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709383-1E76-4562-97B8-FD96D9CA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8E881E-B146-41E7-B001-E6A0ED15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0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E1DD6A-F932-44FB-9DB1-1E7D85FE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4804072-11A9-4144-BADB-0C825B1F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7522C2-15ED-4FD3-806C-010067AA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2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CF606-F9D7-47BC-A3F8-889871EA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0DE76C-98B2-4ECA-B2FF-47F797CDC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892DE8-A42D-446E-9258-1BD049467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47CBA4-09D9-4043-98B2-C3189669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8821D9-CB3F-4FF5-A0BF-61E31D3C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AC23CB-402D-43E7-89BC-8D95D4B0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63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4B41D-C150-4E3F-A3AF-D82D0842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5D9B90-53A2-408A-A2FB-166D2FE54D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ABCC0D-C2E2-43AA-B9FF-F01C3F26B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FC5E31-C818-4204-A450-201673FA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61633C-6060-4A93-86BC-B71D371B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1061B2-C775-4D4A-8423-5EC7178E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2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CCF10-9DB0-41AE-8D4A-53001144C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F22269-D355-4D5A-9560-11B977D10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79A66E-403F-4E5E-9336-51747131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90A7E4-9646-424A-98D7-42D38CD8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534CE6-24DA-4E9C-9BAD-20B894C5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89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D24A55-5A45-4876-B050-27D02AC36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57B195-D8B2-4531-97C8-39F33448F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4A52C4-720B-4825-A08B-A610CDC3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08EB3D-1AAC-4F84-BB6B-E1389AB92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B73644-9E39-4E42-AB0E-C66214BD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1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DCF79A-B07A-4765-8211-9BF0A79C9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77B681-6BBF-4720-8227-666C126E9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8C5346-DDB1-4EE5-BD95-5550BAA5C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28AB7-D831-4AB9-9D13-3FC33BE56306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F42ADA-6F2D-42FB-A883-35ACFD122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4ED0E6-9EBB-46FA-B43F-F5A87175D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6C6F0-BCD4-4488-8C71-A90FF2AC72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62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C95174B-B358-40C7-BDD9-DEA4F41314ED}"/>
              </a:ext>
            </a:extLst>
          </p:cNvPr>
          <p:cNvSpPr txBox="1"/>
          <p:nvPr/>
        </p:nvSpPr>
        <p:spPr>
          <a:xfrm>
            <a:off x="1295400" y="797510"/>
            <a:ext cx="96011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Análise Estatística — BMW (2010–2024)</a:t>
            </a:r>
          </a:p>
          <a:p>
            <a:r>
              <a:rPr lang="pt-BR" sz="2800" dirty="0"/>
              <a:t>Esta análise apresenta um estudo estatístico da base BMW entre os anos de 2010 e 2024, avaliando: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desempenho dos modelos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comportamento regional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tipos de combustível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quilometragem média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transmissões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volume de vendas </a:t>
            </a:r>
          </a:p>
          <a:p>
            <a:r>
              <a:rPr lang="pt-BR" sz="2800" dirty="0"/>
              <a:t>O objetivo é identificar tendências de mercado, estabilidade dos modelos e evolução tecnológica da marca no segmento automotivo premium. </a:t>
            </a:r>
          </a:p>
        </p:txBody>
      </p:sp>
    </p:spTree>
    <p:extLst>
      <p:ext uri="{BB962C8B-B14F-4D97-AF65-F5344CB8AC3E}">
        <p14:creationId xmlns:p14="http://schemas.microsoft.com/office/powerpoint/2010/main" val="64601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817CF07-1BE0-4BB8-AA63-520626697C3C}"/>
              </a:ext>
            </a:extLst>
          </p:cNvPr>
          <p:cNvSpPr txBox="1"/>
          <p:nvPr/>
        </p:nvSpPr>
        <p:spPr>
          <a:xfrm>
            <a:off x="897593" y="487646"/>
            <a:ext cx="1004831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Modelos por Ano</a:t>
            </a:r>
          </a:p>
          <a:p>
            <a:r>
              <a:rPr lang="pt-BR" sz="2800" b="1" dirty="0"/>
              <a:t>Análise dos Modelos BMW</a:t>
            </a:r>
          </a:p>
          <a:p>
            <a:r>
              <a:rPr lang="pt-BR" sz="2800" dirty="0"/>
              <a:t>Os modelos BMW apresentaram forte estabilidade ao longo da série histórica.</a:t>
            </a:r>
          </a:p>
          <a:p>
            <a:r>
              <a:rPr lang="pt-BR" sz="2800" dirty="0"/>
              <a:t>Modelos com maior consistência: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BMW 3 Series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BMW 5 Series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BMW 7 Series </a:t>
            </a:r>
            <a:br>
              <a:rPr lang="pt-BR" sz="2800" dirty="0"/>
            </a:br>
            <a:endParaRPr lang="pt-BR" sz="2800" dirty="0"/>
          </a:p>
          <a:p>
            <a:r>
              <a:rPr lang="pt-BR" sz="2800" dirty="0"/>
              <a:t>Os dados demonstram: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consolidação comercial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estabilidade de mercado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forte fidelização no segmento premium</a:t>
            </a:r>
          </a:p>
        </p:txBody>
      </p:sp>
    </p:spTree>
    <p:extLst>
      <p:ext uri="{BB962C8B-B14F-4D97-AF65-F5344CB8AC3E}">
        <p14:creationId xmlns:p14="http://schemas.microsoft.com/office/powerpoint/2010/main" val="37783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B110D84-5044-428F-813C-5C0023BD8661}"/>
              </a:ext>
            </a:extLst>
          </p:cNvPr>
          <p:cNvSpPr txBox="1"/>
          <p:nvPr/>
        </p:nvSpPr>
        <p:spPr>
          <a:xfrm>
            <a:off x="790015" y="428178"/>
            <a:ext cx="856913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Crescimento dos SUVs</a:t>
            </a:r>
          </a:p>
          <a:p>
            <a:r>
              <a:rPr lang="pt-BR" sz="2400" b="1" dirty="0"/>
              <a:t>Expansão dos SUVs BMW</a:t>
            </a:r>
          </a:p>
          <a:p>
            <a:r>
              <a:rPr lang="pt-BR" sz="2400" dirty="0"/>
              <a:t>Os SUVs apresentaram crescimento expressivo ao longo dos anos analisados.</a:t>
            </a:r>
          </a:p>
          <a:p>
            <a:r>
              <a:rPr lang="pt-BR" sz="2400" dirty="0"/>
              <a:t>Destaques: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BMW X1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BMW X3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BMW X5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BMW X6 </a:t>
            </a:r>
            <a:br>
              <a:rPr lang="pt-BR" sz="2400" dirty="0"/>
            </a:br>
            <a:endParaRPr lang="pt-BR" sz="2400" dirty="0"/>
          </a:p>
          <a:p>
            <a:r>
              <a:rPr lang="pt-BR" sz="2400" dirty="0"/>
              <a:t>O crescimento evidencia: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expansão do segmento SUV premium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aumento da procura por conforto e tecnologia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fortalecimento do mercado utilitário esportivo </a:t>
            </a:r>
            <a:br>
              <a:rPr lang="pt-BR" sz="2400" dirty="0"/>
            </a:br>
            <a:endParaRPr lang="pt-BR" sz="2400" dirty="0"/>
          </a:p>
          <a:p>
            <a:r>
              <a:rPr lang="pt-BR" sz="2400" dirty="0"/>
              <a:t>O X6 atingiu o maior pico em 2024 com 345 unidades.</a:t>
            </a:r>
          </a:p>
        </p:txBody>
      </p:sp>
    </p:spTree>
    <p:extLst>
      <p:ext uri="{BB962C8B-B14F-4D97-AF65-F5344CB8AC3E}">
        <p14:creationId xmlns:p14="http://schemas.microsoft.com/office/powerpoint/2010/main" val="256700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104B50E-5484-4267-90B8-3FDDDA51AB82}"/>
              </a:ext>
            </a:extLst>
          </p:cNvPr>
          <p:cNvSpPr txBox="1"/>
          <p:nvPr/>
        </p:nvSpPr>
        <p:spPr>
          <a:xfrm>
            <a:off x="816908" y="697504"/>
            <a:ext cx="95238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Evolução Tecnológica BMW</a:t>
            </a:r>
          </a:p>
          <a:p>
            <a:r>
              <a:rPr lang="pt-BR" sz="2800" dirty="0"/>
              <a:t>Os modelos: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BMW i3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BMW i8 </a:t>
            </a:r>
            <a:br>
              <a:rPr lang="pt-BR" sz="2800" dirty="0"/>
            </a:br>
            <a:endParaRPr lang="pt-BR" sz="2800" dirty="0"/>
          </a:p>
          <a:p>
            <a:r>
              <a:rPr lang="pt-BR" sz="2800" dirty="0"/>
              <a:t>demonstraram crescimento consistente na série histórica.</a:t>
            </a:r>
          </a:p>
          <a:p>
            <a:r>
              <a:rPr lang="pt-BR" sz="2800" dirty="0"/>
              <a:t>Os dados evidenciam:</a:t>
            </a:r>
            <a:br>
              <a:rPr lang="pt-BR" sz="2800" dirty="0"/>
            </a:b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fortalecimento da eletrificação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expansão dos híbridos premium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adaptação tecnológica da BMW às tendências globais</a:t>
            </a:r>
          </a:p>
        </p:txBody>
      </p:sp>
    </p:spTree>
    <p:extLst>
      <p:ext uri="{BB962C8B-B14F-4D97-AF65-F5344CB8AC3E}">
        <p14:creationId xmlns:p14="http://schemas.microsoft.com/office/powerpoint/2010/main" val="408415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61D81C69-BF97-489C-8BD4-2C40545A5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371755"/>
              </p:ext>
            </p:extLst>
          </p:nvPr>
        </p:nvGraphicFramePr>
        <p:xfrm>
          <a:off x="1219200" y="1699605"/>
          <a:ext cx="9753600" cy="2667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2765188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604587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26658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403155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951621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490457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299046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30807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9808049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335840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39663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3219893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153246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60292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94494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5916343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Tabela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5142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ANO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3239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MODELO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6544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3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65924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5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0854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7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3865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8730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7135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3472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9250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7652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2326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541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20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44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9A2CB1D-AF09-415E-9DDE-476AC88BE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90487"/>
            <a:ext cx="10648950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01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5083994-4CB1-4A5D-B623-746663235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883298"/>
              </p:ext>
            </p:extLst>
          </p:nvPr>
        </p:nvGraphicFramePr>
        <p:xfrm>
          <a:off x="7026087" y="358069"/>
          <a:ext cx="4693021" cy="4625783"/>
        </p:xfrm>
        <a:graphic>
          <a:graphicData uri="http://schemas.openxmlformats.org/drawingml/2006/table">
            <a:tbl>
              <a:tblPr/>
              <a:tblGrid>
                <a:gridCol w="911185">
                  <a:extLst>
                    <a:ext uri="{9D8B030D-6E8A-4147-A177-3AD203B41FA5}">
                      <a16:colId xmlns:a16="http://schemas.microsoft.com/office/drawing/2014/main" val="231367598"/>
                    </a:ext>
                  </a:extLst>
                </a:gridCol>
                <a:gridCol w="630306">
                  <a:extLst>
                    <a:ext uri="{9D8B030D-6E8A-4147-A177-3AD203B41FA5}">
                      <a16:colId xmlns:a16="http://schemas.microsoft.com/office/drawing/2014/main" val="2370439365"/>
                    </a:ext>
                  </a:extLst>
                </a:gridCol>
                <a:gridCol w="630306">
                  <a:extLst>
                    <a:ext uri="{9D8B030D-6E8A-4147-A177-3AD203B41FA5}">
                      <a16:colId xmlns:a16="http://schemas.microsoft.com/office/drawing/2014/main" val="4030980487"/>
                    </a:ext>
                  </a:extLst>
                </a:gridCol>
                <a:gridCol w="630306">
                  <a:extLst>
                    <a:ext uri="{9D8B030D-6E8A-4147-A177-3AD203B41FA5}">
                      <a16:colId xmlns:a16="http://schemas.microsoft.com/office/drawing/2014/main" val="1440725876"/>
                    </a:ext>
                  </a:extLst>
                </a:gridCol>
                <a:gridCol w="630306">
                  <a:extLst>
                    <a:ext uri="{9D8B030D-6E8A-4147-A177-3AD203B41FA5}">
                      <a16:colId xmlns:a16="http://schemas.microsoft.com/office/drawing/2014/main" val="904192374"/>
                    </a:ext>
                  </a:extLst>
                </a:gridCol>
                <a:gridCol w="630306">
                  <a:extLst>
                    <a:ext uri="{9D8B030D-6E8A-4147-A177-3AD203B41FA5}">
                      <a16:colId xmlns:a16="http://schemas.microsoft.com/office/drawing/2014/main" val="4149058379"/>
                    </a:ext>
                  </a:extLst>
                </a:gridCol>
                <a:gridCol w="630306">
                  <a:extLst>
                    <a:ext uri="{9D8B030D-6E8A-4147-A177-3AD203B41FA5}">
                      <a16:colId xmlns:a16="http://schemas.microsoft.com/office/drawing/2014/main" val="2256288549"/>
                    </a:ext>
                  </a:extLst>
                </a:gridCol>
              </a:tblGrid>
              <a:tr h="54645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Tabela 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Região: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157295"/>
                  </a:ext>
                </a:extLst>
              </a:tr>
              <a:tr h="58276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5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REGIÃO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Africa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Europe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Middle East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 America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America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115756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MODELO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490469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3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091133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5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628337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7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706813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349283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387288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142257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784844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671810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378754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339078"/>
                  </a:ext>
                </a:extLst>
              </a:tr>
              <a:tr h="2913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340036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8EF0F1D-462F-4FE9-8EA1-3C318A8EF5B8}"/>
              </a:ext>
            </a:extLst>
          </p:cNvPr>
          <p:cNvSpPr txBox="1"/>
          <p:nvPr/>
        </p:nvSpPr>
        <p:spPr>
          <a:xfrm>
            <a:off x="682437" y="1290533"/>
            <a:ext cx="86901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Análise Regional</a:t>
            </a:r>
          </a:p>
          <a:p>
            <a:r>
              <a:rPr lang="pt-BR" b="1" dirty="0"/>
              <a:t>Distribuição Global BMW</a:t>
            </a:r>
          </a:p>
          <a:p>
            <a:r>
              <a:rPr lang="pt-BR" dirty="0"/>
              <a:t>A BMW apresentou forte equilíbrio entre os mercados globais.</a:t>
            </a:r>
          </a:p>
          <a:p>
            <a:r>
              <a:rPr lang="pt-BR" dirty="0"/>
              <a:t>Regiões com maior presença: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Asia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Europe</a:t>
            </a:r>
            <a:r>
              <a:rPr lang="pt-BR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Middle East </a:t>
            </a:r>
            <a:br>
              <a:rPr lang="pt-BR" dirty="0"/>
            </a:br>
            <a:endParaRPr lang="pt-BR" dirty="0"/>
          </a:p>
          <a:p>
            <a:r>
              <a:rPr lang="pt-BR" dirty="0"/>
              <a:t>Destaques: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BMW X1 → maior presença na Ásia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BMW i8 → destaque europeu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BMW 7 Series → forte presença no Oriente Médio </a:t>
            </a:r>
          </a:p>
          <a:p>
            <a:r>
              <a:rPr lang="pt-BR" dirty="0"/>
              <a:t>Os dados demonstram posicionamento global consolidado.</a:t>
            </a:r>
          </a:p>
        </p:txBody>
      </p:sp>
    </p:spTree>
    <p:extLst>
      <p:ext uri="{BB962C8B-B14F-4D97-AF65-F5344CB8AC3E}">
        <p14:creationId xmlns:p14="http://schemas.microsoft.com/office/powerpoint/2010/main" val="109659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25A67D2-0A45-49A6-B136-2EEE4EBF0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90487"/>
            <a:ext cx="10648950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695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98631B6-F367-40B0-BF9E-3EF828793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572702"/>
              </p:ext>
            </p:extLst>
          </p:nvPr>
        </p:nvGraphicFramePr>
        <p:xfrm>
          <a:off x="524436" y="879774"/>
          <a:ext cx="4424084" cy="4804410"/>
        </p:xfrm>
        <a:graphic>
          <a:graphicData uri="http://schemas.openxmlformats.org/drawingml/2006/table">
            <a:tbl>
              <a:tblPr/>
              <a:tblGrid>
                <a:gridCol w="689995">
                  <a:extLst>
                    <a:ext uri="{9D8B030D-6E8A-4147-A177-3AD203B41FA5}">
                      <a16:colId xmlns:a16="http://schemas.microsoft.com/office/drawing/2014/main" val="2204682429"/>
                    </a:ext>
                  </a:extLst>
                </a:gridCol>
                <a:gridCol w="689995">
                  <a:extLst>
                    <a:ext uri="{9D8B030D-6E8A-4147-A177-3AD203B41FA5}">
                      <a16:colId xmlns:a16="http://schemas.microsoft.com/office/drawing/2014/main" val="1702136039"/>
                    </a:ext>
                  </a:extLst>
                </a:gridCol>
                <a:gridCol w="689995">
                  <a:extLst>
                    <a:ext uri="{9D8B030D-6E8A-4147-A177-3AD203B41FA5}">
                      <a16:colId xmlns:a16="http://schemas.microsoft.com/office/drawing/2014/main" val="1757843746"/>
                    </a:ext>
                  </a:extLst>
                </a:gridCol>
                <a:gridCol w="689995">
                  <a:extLst>
                    <a:ext uri="{9D8B030D-6E8A-4147-A177-3AD203B41FA5}">
                      <a16:colId xmlns:a16="http://schemas.microsoft.com/office/drawing/2014/main" val="587843229"/>
                    </a:ext>
                  </a:extLst>
                </a:gridCol>
                <a:gridCol w="689995">
                  <a:extLst>
                    <a:ext uri="{9D8B030D-6E8A-4147-A177-3AD203B41FA5}">
                      <a16:colId xmlns:a16="http://schemas.microsoft.com/office/drawing/2014/main" val="411911388"/>
                    </a:ext>
                  </a:extLst>
                </a:gridCol>
                <a:gridCol w="974109">
                  <a:extLst>
                    <a:ext uri="{9D8B030D-6E8A-4147-A177-3AD203B41FA5}">
                      <a16:colId xmlns:a16="http://schemas.microsoft.com/office/drawing/2014/main" val="374652239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Tabela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Combustível: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1388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TIPO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Diesel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Electric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Petrol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846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004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878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069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345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6050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9428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7069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4813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3028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4178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643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851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1738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2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5000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625438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A99D8ED1-A066-463B-9506-C01B41D24B4F}"/>
              </a:ext>
            </a:extLst>
          </p:cNvPr>
          <p:cNvSpPr txBox="1"/>
          <p:nvPr/>
        </p:nvSpPr>
        <p:spPr>
          <a:xfrm>
            <a:off x="5136775" y="1435319"/>
            <a:ext cx="653078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Combustíveis</a:t>
            </a:r>
          </a:p>
          <a:p>
            <a:r>
              <a:rPr lang="pt-BR" b="1" dirty="0"/>
              <a:t>Análise por Tipo de Combustível</a:t>
            </a:r>
          </a:p>
          <a:p>
            <a:r>
              <a:rPr lang="pt-BR" dirty="0"/>
              <a:t>A categoria </a:t>
            </a:r>
            <a:r>
              <a:rPr lang="pt-BR" dirty="0" err="1"/>
              <a:t>Hybrid</a:t>
            </a:r>
            <a:r>
              <a:rPr lang="pt-BR" dirty="0"/>
              <a:t> apresentou o maior volume de vendas da base.</a:t>
            </a:r>
          </a:p>
          <a:p>
            <a:r>
              <a:rPr lang="pt-BR" dirty="0"/>
              <a:t>Volume total: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 err="1"/>
              <a:t>Hybrid</a:t>
            </a:r>
            <a:r>
              <a:rPr lang="pt-BR" dirty="0"/>
              <a:t> → 64.532.097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Electric → 63.157.665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 err="1"/>
              <a:t>Petrol</a:t>
            </a:r>
            <a:r>
              <a:rPr lang="pt-BR" dirty="0"/>
              <a:t> → 63.324.154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Diesel → 62.361.818 </a:t>
            </a:r>
            <a:br>
              <a:rPr lang="pt-BR" dirty="0"/>
            </a:br>
            <a:endParaRPr lang="pt-BR" dirty="0"/>
          </a:p>
          <a:p>
            <a:r>
              <a:rPr lang="pt-BR" dirty="0"/>
              <a:t>Os dados mostram: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crescimento acelerado dos híbridos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expansão da eletrificação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redução gradual da dependência de combustíveis fósseis</a:t>
            </a:r>
          </a:p>
        </p:txBody>
      </p:sp>
    </p:spTree>
    <p:extLst>
      <p:ext uri="{BB962C8B-B14F-4D97-AF65-F5344CB8AC3E}">
        <p14:creationId xmlns:p14="http://schemas.microsoft.com/office/powerpoint/2010/main" val="1097251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7FA07-28C8-4DA9-ADFA-BD22A1C8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146B11-176B-42BB-B3AB-8AADAFA2B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23690B-C3DF-439A-B0A4-AC4BE261A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5362" y="-333375"/>
            <a:ext cx="14182725" cy="752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877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6AED46C-6186-4E25-B6B6-1D3D643C1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166179"/>
              </p:ext>
            </p:extLst>
          </p:nvPr>
        </p:nvGraphicFramePr>
        <p:xfrm>
          <a:off x="484095" y="1013974"/>
          <a:ext cx="7046637" cy="4002405"/>
        </p:xfrm>
        <a:graphic>
          <a:graphicData uri="http://schemas.openxmlformats.org/drawingml/2006/table">
            <a:tbl>
              <a:tblPr/>
              <a:tblGrid>
                <a:gridCol w="869508">
                  <a:extLst>
                    <a:ext uri="{9D8B030D-6E8A-4147-A177-3AD203B41FA5}">
                      <a16:colId xmlns:a16="http://schemas.microsoft.com/office/drawing/2014/main" val="207035309"/>
                    </a:ext>
                  </a:extLst>
                </a:gridCol>
                <a:gridCol w="869508">
                  <a:extLst>
                    <a:ext uri="{9D8B030D-6E8A-4147-A177-3AD203B41FA5}">
                      <a16:colId xmlns:a16="http://schemas.microsoft.com/office/drawing/2014/main" val="2425470966"/>
                    </a:ext>
                  </a:extLst>
                </a:gridCol>
                <a:gridCol w="1829589">
                  <a:extLst>
                    <a:ext uri="{9D8B030D-6E8A-4147-A177-3AD203B41FA5}">
                      <a16:colId xmlns:a16="http://schemas.microsoft.com/office/drawing/2014/main" val="3523039822"/>
                    </a:ext>
                  </a:extLst>
                </a:gridCol>
                <a:gridCol w="869508">
                  <a:extLst>
                    <a:ext uri="{9D8B030D-6E8A-4147-A177-3AD203B41FA5}">
                      <a16:colId xmlns:a16="http://schemas.microsoft.com/office/drawing/2014/main" val="2349004385"/>
                    </a:ext>
                  </a:extLst>
                </a:gridCol>
                <a:gridCol w="869508">
                  <a:extLst>
                    <a:ext uri="{9D8B030D-6E8A-4147-A177-3AD203B41FA5}">
                      <a16:colId xmlns:a16="http://schemas.microsoft.com/office/drawing/2014/main" val="2208017934"/>
                    </a:ext>
                  </a:extLst>
                </a:gridCol>
                <a:gridCol w="869508">
                  <a:extLst>
                    <a:ext uri="{9D8B030D-6E8A-4147-A177-3AD203B41FA5}">
                      <a16:colId xmlns:a16="http://schemas.microsoft.com/office/drawing/2014/main" val="679029384"/>
                    </a:ext>
                  </a:extLst>
                </a:gridCol>
                <a:gridCol w="869508">
                  <a:extLst>
                    <a:ext uri="{9D8B030D-6E8A-4147-A177-3AD203B41FA5}">
                      <a16:colId xmlns:a16="http://schemas.microsoft.com/office/drawing/2014/main" val="1313920864"/>
                    </a:ext>
                  </a:extLst>
                </a:gridCol>
              </a:tblGrid>
              <a:tr h="39712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Tabela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Média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Quilometragem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046131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Quilometragem_KM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591755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99.102.597.297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729707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98.849.272.727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831079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100.403.027.311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5743750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99.859.341.251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975829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100.706.354.328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500307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100.429.033.651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171867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99.746.010.996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707160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100.582.954.711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868667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99.806.046.065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6797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101.111.666.863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891631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100.404.993.448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885248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100.662.340.451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217406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100.437.925.819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122497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101.392.031.376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327149"/>
                  </a:ext>
                </a:extLst>
              </a:tr>
              <a:tr h="21940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101.081.074.409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1366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92D273F-B065-4122-B1EC-709FE3C7BD8A}"/>
              </a:ext>
            </a:extLst>
          </p:cNvPr>
          <p:cNvSpPr txBox="1"/>
          <p:nvPr/>
        </p:nvSpPr>
        <p:spPr>
          <a:xfrm>
            <a:off x="4531659" y="1724869"/>
            <a:ext cx="64176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Quilometragem Média</a:t>
            </a:r>
          </a:p>
          <a:p>
            <a:r>
              <a:rPr lang="pt-BR" b="1" dirty="0"/>
              <a:t>Média de Quilometragem por Ano</a:t>
            </a:r>
          </a:p>
          <a:p>
            <a:r>
              <a:rPr lang="pt-BR" dirty="0"/>
              <a:t>A quilometragem média apresentou elevada estabilidade entre 2010 e 2024.</a:t>
            </a:r>
          </a:p>
          <a:p>
            <a:r>
              <a:rPr lang="pt-BR" dirty="0"/>
              <a:t>Faixa média: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aproximadamente 99 a 101 milhões KM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Os dados indicam: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padronização operacional da frota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estabilidade de uso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consistência estatística da base </a:t>
            </a:r>
          </a:p>
          <a:p>
            <a:r>
              <a:rPr lang="pt-BR" dirty="0"/>
              <a:t>O maior volume ocorreu em 2023.</a:t>
            </a:r>
          </a:p>
        </p:txBody>
      </p:sp>
    </p:spTree>
    <p:extLst>
      <p:ext uri="{BB962C8B-B14F-4D97-AF65-F5344CB8AC3E}">
        <p14:creationId xmlns:p14="http://schemas.microsoft.com/office/powerpoint/2010/main" val="3926262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B246895-6036-49CC-8DD0-100F7A993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5362" y="-333375"/>
            <a:ext cx="14182725" cy="752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922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F682821-41BB-410A-9041-C9C2341F0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694597"/>
              </p:ext>
            </p:extLst>
          </p:nvPr>
        </p:nvGraphicFramePr>
        <p:xfrm>
          <a:off x="266140" y="2466928"/>
          <a:ext cx="3048000" cy="126682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9924220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24200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29716027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Tabela de Volume de Vendas por Tipo de Combustível: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113827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TIPO COMBUSTIVEL  Volume_Vendas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4341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0           Diesel       62361818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0628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1         Electric       63157665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239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2           Hybrid       64532097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7349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3           Petrol       63324154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485437"/>
                  </a:ext>
                </a:extLst>
              </a:tr>
            </a:tbl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3A7BEB0B-79F4-4D9D-994C-DFA831D99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635" y="619125"/>
            <a:ext cx="94202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2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08B40FD-1D59-482A-A4E6-50BF71BEE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845867"/>
              </p:ext>
            </p:extLst>
          </p:nvPr>
        </p:nvGraphicFramePr>
        <p:xfrm>
          <a:off x="699247" y="1622452"/>
          <a:ext cx="5257800" cy="3124366"/>
        </p:xfrm>
        <a:graphic>
          <a:graphicData uri="http://schemas.openxmlformats.org/drawingml/2006/table">
            <a:tbl>
              <a:tblPr/>
              <a:tblGrid>
                <a:gridCol w="1294797">
                  <a:extLst>
                    <a:ext uri="{9D8B030D-6E8A-4147-A177-3AD203B41FA5}">
                      <a16:colId xmlns:a16="http://schemas.microsoft.com/office/drawing/2014/main" val="2162442301"/>
                    </a:ext>
                  </a:extLst>
                </a:gridCol>
                <a:gridCol w="1202311">
                  <a:extLst>
                    <a:ext uri="{9D8B030D-6E8A-4147-A177-3AD203B41FA5}">
                      <a16:colId xmlns:a16="http://schemas.microsoft.com/office/drawing/2014/main" val="1513510607"/>
                    </a:ext>
                  </a:extLst>
                </a:gridCol>
                <a:gridCol w="984970">
                  <a:extLst>
                    <a:ext uri="{9D8B030D-6E8A-4147-A177-3AD203B41FA5}">
                      <a16:colId xmlns:a16="http://schemas.microsoft.com/office/drawing/2014/main" val="644684231"/>
                    </a:ext>
                  </a:extLst>
                </a:gridCol>
                <a:gridCol w="887861">
                  <a:extLst>
                    <a:ext uri="{9D8B030D-6E8A-4147-A177-3AD203B41FA5}">
                      <a16:colId xmlns:a16="http://schemas.microsoft.com/office/drawing/2014/main" val="2379116513"/>
                    </a:ext>
                  </a:extLst>
                </a:gridCol>
                <a:gridCol w="887861">
                  <a:extLst>
                    <a:ext uri="{9D8B030D-6E8A-4147-A177-3AD203B41FA5}">
                      <a16:colId xmlns:a16="http://schemas.microsoft.com/office/drawing/2014/main" val="2160386722"/>
                    </a:ext>
                  </a:extLst>
                </a:gridCol>
              </a:tblGrid>
              <a:tr h="223169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Tabela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Transmissão: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848939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TransmisSÃO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880110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MODELO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652900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3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312289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5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20130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7 Series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114646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412127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952014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907598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265281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962772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286836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232007"/>
                  </a:ext>
                </a:extLst>
              </a:tr>
              <a:tr h="2231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013077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4A82B60-896F-47E0-BEA0-F269399D1A9D}"/>
              </a:ext>
            </a:extLst>
          </p:cNvPr>
          <p:cNvSpPr txBox="1"/>
          <p:nvPr/>
        </p:nvSpPr>
        <p:spPr>
          <a:xfrm>
            <a:off x="4787153" y="1819226"/>
            <a:ext cx="61781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Transmissão</a:t>
            </a:r>
          </a:p>
          <a:p>
            <a:r>
              <a:rPr lang="pt-BR" b="1" dirty="0"/>
              <a:t>Modelos por Tipo de Transmissão</a:t>
            </a:r>
          </a:p>
          <a:p>
            <a:r>
              <a:rPr lang="pt-BR" dirty="0"/>
              <a:t>A BMW apresentou equilíbrio entre transmissões automáticas e manuais.</a:t>
            </a:r>
          </a:p>
          <a:p>
            <a:r>
              <a:rPr lang="pt-BR" dirty="0"/>
              <a:t>Destaques: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BMW 7 Series → maior volume automático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BMW i3 → destaque manual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BMW X6 → crescimento manual </a:t>
            </a:r>
          </a:p>
          <a:p>
            <a:r>
              <a:rPr lang="pt-BR" dirty="0"/>
              <a:t>Os dados evidenciam: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diversidade de portfólio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adaptação a diferentes mercados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transição tecnológica gradual </a:t>
            </a:r>
          </a:p>
        </p:txBody>
      </p:sp>
    </p:spTree>
    <p:extLst>
      <p:ext uri="{BB962C8B-B14F-4D97-AF65-F5344CB8AC3E}">
        <p14:creationId xmlns:p14="http://schemas.microsoft.com/office/powerpoint/2010/main" val="502880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694465F-2C43-49B6-9292-37FF70DCB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89583"/>
              </p:ext>
            </p:extLst>
          </p:nvPr>
        </p:nvGraphicFramePr>
        <p:xfrm>
          <a:off x="762000" y="1753394"/>
          <a:ext cx="2438400" cy="2667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42603414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88765419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Tabela de Modelos por Transmissão: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282285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TransmisSÃO  Automatic  Manual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0201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MODELO                       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3754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3 Series          2292    2303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6381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5 Series          2303    2289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597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7 Series          2339    2327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2542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M3                2205    2208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0730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M5                2189    2289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9819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X1                2294    2276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2007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X3                2215    2282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0865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X5                2257    2230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7374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X6                2181    2297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4949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i3                2267    2351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7921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i8                2304    2302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88850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BABBF55B-B37D-4ED7-B585-2A9907B1B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5362" y="-333375"/>
            <a:ext cx="14182725" cy="752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52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7A6E586-2F4F-4AB1-8803-643E17E4ED82}"/>
              </a:ext>
            </a:extLst>
          </p:cNvPr>
          <p:cNvSpPr txBox="1"/>
          <p:nvPr/>
        </p:nvSpPr>
        <p:spPr>
          <a:xfrm>
            <a:off x="668992" y="428178"/>
            <a:ext cx="111644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A análise demonstra que a BMW mantém forte equilíbrio entre: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luxo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esportividade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tecnologia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eletrificação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SUVs premium </a:t>
            </a:r>
            <a:br>
              <a:rPr lang="pt-BR" sz="2400" dirty="0"/>
            </a:br>
            <a:endParaRPr lang="pt-BR" sz="2400" dirty="0"/>
          </a:p>
          <a:p>
            <a:r>
              <a:rPr lang="pt-BR" sz="2400" dirty="0"/>
              <a:t>Principais tendências identificadas: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crescimento contínuo dos SUVs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fortalecimento dos híbridos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expansão da linha elétrica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estabilidade global da marca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forte posicionamento internacional </a:t>
            </a:r>
            <a:br>
              <a:rPr lang="pt-BR" sz="2400" dirty="0"/>
            </a:br>
            <a:endParaRPr lang="pt-BR" sz="2400" dirty="0"/>
          </a:p>
          <a:p>
            <a:r>
              <a:rPr lang="pt-BR" sz="2400" dirty="0"/>
              <a:t>Os dados indicam que a BMW segue alinhada às principais transformações do mercado automotivo premium global.</a:t>
            </a:r>
          </a:p>
        </p:txBody>
      </p:sp>
    </p:spTree>
    <p:extLst>
      <p:ext uri="{BB962C8B-B14F-4D97-AF65-F5344CB8AC3E}">
        <p14:creationId xmlns:p14="http://schemas.microsoft.com/office/powerpoint/2010/main" val="24591863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1065</Words>
  <Application>Microsoft Office PowerPoint</Application>
  <PresentationFormat>Widescreen</PresentationFormat>
  <Paragraphs>618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Priscila</dc:creator>
  <cp:lastModifiedBy>Priscila</cp:lastModifiedBy>
  <cp:revision>2</cp:revision>
  <dcterms:created xsi:type="dcterms:W3CDTF">2026-05-22T23:35:29Z</dcterms:created>
  <dcterms:modified xsi:type="dcterms:W3CDTF">2026-05-23T00:02:36Z</dcterms:modified>
</cp:coreProperties>
</file>